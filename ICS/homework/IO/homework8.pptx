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15"/>
    <p:restoredTop sz="94627"/>
  </p:normalViewPr>
  <p:slideViewPr>
    <p:cSldViewPr snapToGrid="0" snapToObjects="1">
      <p:cViewPr varScale="1">
        <p:scale>
          <a:sx n="118" d="100"/>
          <a:sy n="118" d="100"/>
        </p:scale>
        <p:origin x="9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CAF3B-F535-594E-A350-F65B0920FEB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32C27-99DA-8A44-B1FE-52824BDDE77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799E8-8CA8-6B43-9FD7-6473CDEE531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7AC6F-A8B2-4145-9F6B-60E9E081247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IO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SimSun" charset="-122"/>
              </a:rPr>
              <a:t>问题</a:t>
            </a:r>
            <a:r>
              <a:rPr kumimoji="1" lang="en-US" altLang="zh-CN" dirty="0">
                <a:ea typeface="SimSun" charset="-122"/>
              </a:rPr>
              <a:t>1</a:t>
            </a:r>
            <a:endParaRPr kumimoji="1" lang="zh-CN" altLang="en-US" dirty="0">
              <a:ea typeface="SimSun" charset="-122"/>
            </a:endParaRPr>
          </a:p>
        </p:txBody>
      </p:sp>
      <p:sp>
        <p:nvSpPr>
          <p:cNvPr id="61442" name="内容占位符 2"/>
          <p:cNvSpPr>
            <a:spLocks noGrp="1"/>
          </p:cNvSpPr>
          <p:nvPr>
            <p:ph idx="1"/>
          </p:nvPr>
        </p:nvSpPr>
        <p:spPr>
          <a:xfrm>
            <a:off x="838200" y="1511874"/>
            <a:ext cx="10515600" cy="4351338"/>
          </a:xfrm>
        </p:spPr>
        <p:txBody>
          <a:bodyPr/>
          <a:lstStyle/>
          <a:p>
            <a:r>
              <a:rPr lang="en-US" altLang="en-US" sz="2000" dirty="0">
                <a:ea typeface="SimSun" charset="-122"/>
              </a:rPr>
              <a:t>计算计采用</a:t>
            </a:r>
            <a:r>
              <a:rPr lang="en-US" altLang="zh-CN" sz="2000" dirty="0">
                <a:ea typeface="SimSun" charset="-122"/>
              </a:rPr>
              <a:t>C-SCAN</a:t>
            </a:r>
            <a:r>
              <a:rPr lang="en-US" altLang="en-US" sz="2000" dirty="0">
                <a:ea typeface="SimSun" charset="-122"/>
              </a:rPr>
              <a:t>磁盘调度策略，使用</a:t>
            </a:r>
            <a:r>
              <a:rPr lang="en-US" altLang="zh-CN" sz="2000" dirty="0">
                <a:ea typeface="SimSun" charset="-122"/>
              </a:rPr>
              <a:t>2KB</a:t>
            </a:r>
            <a:r>
              <a:rPr lang="en-US" altLang="en-US" sz="2000" dirty="0">
                <a:ea typeface="SimSun" charset="-122"/>
              </a:rPr>
              <a:t>的内存空间记录</a:t>
            </a:r>
            <a:r>
              <a:rPr lang="en-US" altLang="zh-CN" sz="2000" dirty="0">
                <a:ea typeface="SimSun" charset="-122"/>
              </a:rPr>
              <a:t>16384</a:t>
            </a:r>
            <a:r>
              <a:rPr lang="en-US" altLang="en-US" sz="2000" dirty="0">
                <a:ea typeface="SimSun" charset="-122"/>
              </a:rPr>
              <a:t>个磁盘块的空闲状态。</a:t>
            </a:r>
            <a:endParaRPr lang="en-US" altLang="zh-CN" sz="2000" dirty="0">
              <a:ea typeface="SimSun" charset="-122"/>
            </a:endParaRPr>
          </a:p>
          <a:p>
            <a:pPr lvl="1"/>
            <a:r>
              <a:rPr lang="en-US" altLang="zh-CN" sz="1800" dirty="0">
                <a:ea typeface="SimSun" charset="-122"/>
              </a:rPr>
              <a:t>(1) </a:t>
            </a:r>
            <a:r>
              <a:rPr lang="en-US" altLang="en-US" sz="1800" dirty="0">
                <a:ea typeface="SimSun" charset="-122"/>
              </a:rPr>
              <a:t>说明在上述条件下，如何进行磁盘块空闲状态管理</a:t>
            </a:r>
            <a:endParaRPr lang="en-US" altLang="zh-CN" sz="1800" dirty="0">
              <a:ea typeface="SimSun" charset="-122"/>
            </a:endParaRPr>
          </a:p>
          <a:p>
            <a:pPr lvl="1"/>
            <a:r>
              <a:rPr lang="en-US" altLang="zh-CN" sz="1800" dirty="0">
                <a:ea typeface="SimSun" charset="-122"/>
              </a:rPr>
              <a:t>(2) </a:t>
            </a:r>
            <a:r>
              <a:rPr lang="en-US" altLang="en-US" sz="1800" dirty="0">
                <a:ea typeface="SimSun" charset="-122"/>
              </a:rPr>
              <a:t>某单面磁盘转速为</a:t>
            </a:r>
            <a:r>
              <a:rPr lang="en-US" altLang="zh-CN" sz="1800" dirty="0">
                <a:ea typeface="SimSun" charset="-122"/>
              </a:rPr>
              <a:t>6000 RPM</a:t>
            </a:r>
            <a:r>
              <a:rPr lang="en-US" altLang="en-US" sz="1800" dirty="0">
                <a:ea typeface="SimSun" charset="-122"/>
              </a:rPr>
              <a:t>，每个磁道有</a:t>
            </a:r>
            <a:r>
              <a:rPr lang="en-US" altLang="zh-CN" sz="1800" dirty="0">
                <a:ea typeface="SimSun" charset="-122"/>
              </a:rPr>
              <a:t>100</a:t>
            </a:r>
            <a:r>
              <a:rPr lang="en-US" altLang="en-US" sz="1800" dirty="0">
                <a:ea typeface="SimSun" charset="-122"/>
              </a:rPr>
              <a:t>个扇区，相近磁道的平均移动时间为</a:t>
            </a:r>
            <a:r>
              <a:rPr lang="en-US" altLang="zh-CN" sz="1800" dirty="0">
                <a:ea typeface="SimSun" charset="-122"/>
              </a:rPr>
              <a:t>1ms</a:t>
            </a:r>
            <a:r>
              <a:rPr lang="en-US" altLang="en-US" sz="1800" dirty="0">
                <a:ea typeface="SimSun" charset="-122"/>
              </a:rPr>
              <a:t>。当前磁头位于</a:t>
            </a:r>
            <a:r>
              <a:rPr lang="en-US" altLang="zh-CN" sz="1800" dirty="0">
                <a:ea typeface="SimSun" charset="-122"/>
              </a:rPr>
              <a:t>100</a:t>
            </a:r>
            <a:r>
              <a:rPr lang="en-US" altLang="en-US" sz="1800" dirty="0">
                <a:ea typeface="SimSun" charset="-122"/>
              </a:rPr>
              <a:t>号磁道处，并沿磁道号较大的方向移动。磁道号请求队列为</a:t>
            </a:r>
            <a:r>
              <a:rPr lang="en-US" altLang="zh-CN" sz="1800" dirty="0">
                <a:ea typeface="SimSun" charset="-122"/>
              </a:rPr>
              <a:t>50</a:t>
            </a:r>
            <a:r>
              <a:rPr lang="en-US" altLang="en-US" sz="1800" dirty="0">
                <a:ea typeface="SimSun" charset="-122"/>
              </a:rPr>
              <a:t>、</a:t>
            </a:r>
            <a:r>
              <a:rPr lang="en-US" altLang="zh-CN" sz="1800" dirty="0">
                <a:ea typeface="SimSun" charset="-122"/>
              </a:rPr>
              <a:t>90</a:t>
            </a:r>
            <a:r>
              <a:rPr lang="en-US" altLang="en-US" sz="1800" dirty="0">
                <a:ea typeface="SimSun" charset="-122"/>
              </a:rPr>
              <a:t>、</a:t>
            </a:r>
            <a:r>
              <a:rPr lang="en-US" altLang="zh-CN" sz="1800" dirty="0">
                <a:ea typeface="SimSun" charset="-122"/>
              </a:rPr>
              <a:t>30</a:t>
            </a:r>
            <a:r>
              <a:rPr lang="en-US" altLang="en-US" sz="1800" dirty="0">
                <a:ea typeface="SimSun" charset="-122"/>
              </a:rPr>
              <a:t>、</a:t>
            </a:r>
            <a:r>
              <a:rPr lang="en-US" altLang="zh-CN" sz="1800" dirty="0">
                <a:ea typeface="SimSun" charset="-122"/>
              </a:rPr>
              <a:t>120</a:t>
            </a:r>
            <a:r>
              <a:rPr lang="en-US" altLang="en-US" sz="1800" dirty="0">
                <a:ea typeface="SimSun" charset="-122"/>
              </a:rPr>
              <a:t>，每个请求需要读取一个随机分布的扇区，读完这</a:t>
            </a:r>
            <a:r>
              <a:rPr lang="en-US" altLang="zh-CN" sz="1800" dirty="0">
                <a:ea typeface="SimSun" charset="-122"/>
              </a:rPr>
              <a:t>4</a:t>
            </a:r>
            <a:r>
              <a:rPr lang="en-US" altLang="en-US" sz="1800" dirty="0">
                <a:ea typeface="SimSun" charset="-122"/>
              </a:rPr>
              <a:t>个扇区需要多少时间？</a:t>
            </a:r>
            <a:endParaRPr lang="en-US" altLang="zh-CN" sz="1800" dirty="0">
              <a:ea typeface="SimSun" charset="-122"/>
            </a:endParaRPr>
          </a:p>
          <a:p>
            <a:pPr lvl="1"/>
            <a:r>
              <a:rPr lang="en-US" altLang="zh-CN" sz="1800" dirty="0">
                <a:ea typeface="SimSun" charset="-122"/>
              </a:rPr>
              <a:t>(3) </a:t>
            </a:r>
            <a:r>
              <a:rPr lang="zh-CN" altLang="en-US" sz="1800" dirty="0">
                <a:ea typeface="SimSun" charset="-122"/>
              </a:rPr>
              <a:t>如果磁盘替换随机访问的</a:t>
            </a:r>
            <a:r>
              <a:rPr lang="en-US" altLang="zh-CN" sz="1800" dirty="0">
                <a:ea typeface="SimSun" charset="-122"/>
              </a:rPr>
              <a:t>Flash</a:t>
            </a:r>
            <a:r>
              <a:rPr lang="zh-CN" altLang="en-US" sz="1800" dirty="0">
                <a:ea typeface="SimSun" charset="-122"/>
              </a:rPr>
              <a:t>设备，什么方法比</a:t>
            </a:r>
            <a:r>
              <a:rPr lang="en-US" altLang="zh-CN" sz="1800" dirty="0">
                <a:ea typeface="SimSun" charset="-122"/>
              </a:rPr>
              <a:t>C-SCAN</a:t>
            </a:r>
            <a:r>
              <a:rPr lang="zh-CN" altLang="en-US" sz="1800" dirty="0">
                <a:ea typeface="SimSun" charset="-122"/>
              </a:rPr>
              <a:t>更有效？</a:t>
            </a:r>
            <a:endParaRPr lang="en-US" altLang="zh-CN" sz="1800" dirty="0">
              <a:ea typeface="SimSun" charset="-122"/>
            </a:endParaRPr>
          </a:p>
          <a:p>
            <a:pPr lvl="1"/>
            <a:endParaRPr lang="zh-CN" altLang="en-US" sz="1800" dirty="0">
              <a:ea typeface="SimSun" charset="-122"/>
            </a:endParaRPr>
          </a:p>
        </p:txBody>
      </p:sp>
      <p:sp>
        <p:nvSpPr>
          <p:cNvPr id="61443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847CF6-C946-4E4B-8FE2-719D69A65011}" type="slidenum">
              <a:rPr lang="zh-CN" altLang="en-US" sz="1400">
                <a:latin typeface="Times New Roman" panose="02020603050405020304" charset="0"/>
                <a:ea typeface="SimSun" charset="-122"/>
              </a:rPr>
            </a:fld>
            <a:endParaRPr lang="en-US" altLang="zh-CN" sz="1400">
              <a:latin typeface="Times New Roman" panose="02020603050405020304" charset="0"/>
              <a:ea typeface="SimSun" charset="-122"/>
            </a:endParaRPr>
          </a:p>
        </p:txBody>
      </p:sp>
      <p:pic>
        <p:nvPicPr>
          <p:cNvPr id="61444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461" y="3628845"/>
            <a:ext cx="5633078" cy="303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5046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SSD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FTL</a:t>
            </a:r>
            <a:r>
              <a:rPr kumimoji="1" lang="zh-CN" altLang="en-US" sz="2400" dirty="0"/>
              <a:t>采用</a:t>
            </a:r>
            <a:r>
              <a:rPr kumimoji="1" lang="en-US" altLang="zh-CN" sz="2400" dirty="0"/>
              <a:t>hybrid mapping</a:t>
            </a:r>
            <a:r>
              <a:rPr kumimoji="1" lang="zh-CN" altLang="en-US" sz="2400" dirty="0"/>
              <a:t>的方法管理，规定</a:t>
            </a:r>
            <a:r>
              <a:rPr kumimoji="1" lang="en-US" altLang="zh-CN" sz="2400" dirty="0"/>
              <a:t>log table</a:t>
            </a:r>
            <a:r>
              <a:rPr kumimoji="1" lang="zh-CN" altLang="en-US" sz="2400" dirty="0"/>
              <a:t>中最多有</a:t>
            </a:r>
            <a:r>
              <a:rPr kumimoji="1" lang="en-US" altLang="zh-CN" sz="2400" dirty="0"/>
              <a:t>3</a:t>
            </a:r>
            <a:r>
              <a:rPr kumimoji="1" lang="zh-CN" altLang="en-US" sz="2400" dirty="0"/>
              <a:t>条记录，初试状态如下图所示。假设更新</a:t>
            </a:r>
            <a:r>
              <a:rPr kumimoji="1" lang="en-US" altLang="zh-CN" sz="2400" dirty="0"/>
              <a:t>page</a:t>
            </a:r>
            <a:r>
              <a:rPr kumimoji="1" lang="zh-CN" altLang="en-US" sz="2400" dirty="0"/>
              <a:t>都是连续写入一个</a:t>
            </a:r>
            <a:r>
              <a:rPr kumimoji="1" lang="en-US" altLang="zh-CN" sz="2400" dirty="0"/>
              <a:t>block</a:t>
            </a:r>
            <a:r>
              <a:rPr kumimoji="1" lang="zh-CN" altLang="en-US" sz="2400" dirty="0"/>
              <a:t>的，不论更新</a:t>
            </a:r>
            <a:r>
              <a:rPr kumimoji="1" lang="en-US" altLang="zh-CN" sz="2400" dirty="0"/>
              <a:t>page</a:t>
            </a:r>
            <a:r>
              <a:rPr kumimoji="1" lang="zh-CN" altLang="en-US" sz="2400" dirty="0"/>
              <a:t>是来自于哪个</a:t>
            </a:r>
            <a:r>
              <a:rPr kumimoji="1" lang="en-US" altLang="zh-CN" sz="2400" dirty="0"/>
              <a:t>block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r>
              <a:rPr kumimoji="1" lang="zh-CN" altLang="en-US" sz="2400" dirty="0"/>
              <a:t>用户依次对以下数据块进行更新操作：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dirty="0"/>
              <a:t>        </a:t>
            </a:r>
            <a:r>
              <a:rPr kumimoji="1" lang="en-US" altLang="zh-CN" dirty="0"/>
              <a:t>e, f, a, a, a, g, g, f, h, e</a:t>
            </a:r>
            <a:endParaRPr kumimoji="1" lang="en-US" altLang="zh-CN" dirty="0"/>
          </a:p>
          <a:p>
            <a:r>
              <a:rPr kumimoji="1" lang="zh-CN" altLang="en-US" sz="2400" dirty="0"/>
              <a:t>求完成上述请求序列的过程中：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）写放大为多少个</a:t>
            </a:r>
            <a:r>
              <a:rPr kumimoji="1" lang="en-US" altLang="zh-CN" sz="2400" dirty="0"/>
              <a:t>page</a:t>
            </a:r>
            <a:r>
              <a:rPr kumimoji="1" lang="zh-CN" altLang="en-US" sz="2400" dirty="0"/>
              <a:t>？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）一共发生了几次擦除操作？</a:t>
            </a:r>
            <a:r>
              <a:rPr kumimoji="1" lang="en-US" altLang="zh-CN" sz="2400" dirty="0"/>
              <a:t>3</a:t>
            </a:r>
            <a:r>
              <a:rPr kumimoji="1" lang="zh-CN" altLang="en-US" sz="2400" dirty="0"/>
              <a:t>）各发生了几次</a:t>
            </a:r>
            <a:r>
              <a:rPr kumimoji="1" lang="en-US" altLang="zh-CN" sz="2400" dirty="0"/>
              <a:t>switch, partial </a:t>
            </a:r>
            <a:r>
              <a:rPr kumimoji="1" lang="en-US" altLang="zh-CN" sz="2400" dirty="0" err="1"/>
              <a:t>mergeh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full merge</a:t>
            </a:r>
            <a:r>
              <a:rPr kumimoji="1" lang="zh-CN" altLang="en-US" sz="2400" dirty="0"/>
              <a:t>？</a:t>
            </a:r>
            <a:r>
              <a:rPr kumimoji="1" lang="en-US" altLang="zh-CN" sz="2400" dirty="0"/>
              <a:t> 4</a:t>
            </a:r>
            <a:r>
              <a:rPr kumimoji="1" lang="zh-CN" altLang="en-US" sz="2400" dirty="0"/>
              <a:t>）画出上述请求需求完成后的系统状态图（包括</a:t>
            </a:r>
            <a:r>
              <a:rPr kumimoji="1" lang="en-US" altLang="zh-CN" sz="2400" dirty="0"/>
              <a:t>log table, data table</a:t>
            </a:r>
            <a:r>
              <a:rPr kumimoji="1" lang="zh-CN" altLang="en-US" sz="2400" dirty="0"/>
              <a:t>和闪存中的数据块），空白</a:t>
            </a:r>
            <a:r>
              <a:rPr kumimoji="1" lang="en-US" altLang="zh-CN" sz="2400" dirty="0"/>
              <a:t>block</a:t>
            </a:r>
            <a:r>
              <a:rPr kumimoji="1" lang="zh-CN" altLang="en-US" sz="2400" dirty="0"/>
              <a:t>的分配策略采用</a:t>
            </a:r>
            <a:r>
              <a:rPr kumimoji="1" lang="en-US" altLang="zh-CN" sz="2400" dirty="0" err="1"/>
              <a:t>firt</a:t>
            </a:r>
            <a:r>
              <a:rPr kumimoji="1" lang="en-US" altLang="zh-CN" sz="2400" dirty="0"/>
              <a:t>-fit</a:t>
            </a:r>
            <a:endParaRPr kumimoji="1" lang="en-US" altLang="zh-CN" sz="2400" dirty="0"/>
          </a:p>
          <a:p>
            <a:pPr lvl="1"/>
            <a:endParaRPr kumimoji="1"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290" y="4791734"/>
            <a:ext cx="6769149" cy="2057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846983" cy="4351338"/>
          </a:xfrm>
        </p:spPr>
        <p:txBody>
          <a:bodyPr/>
          <a:lstStyle/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r>
              <a:rPr kumimoji="1" lang="zh-CN" altLang="en-US" dirty="0"/>
              <a:t>文件</a:t>
            </a:r>
            <a:r>
              <a:rPr kumimoji="1" lang="en-US" altLang="zh-CN" dirty="0" err="1"/>
              <a:t>foo.txt</a:t>
            </a:r>
            <a:r>
              <a:rPr kumimoji="1" lang="zh-CN" altLang="en-US" dirty="0"/>
              <a:t>的内容是字符串“</a:t>
            </a:r>
            <a:r>
              <a:rPr kumimoji="1" lang="en-US" altLang="zh-CN" dirty="0" err="1"/>
              <a:t>foofoofoo</a:t>
            </a:r>
            <a:r>
              <a:rPr kumimoji="1" lang="en-US" altLang="zh-CN" dirty="0"/>
              <a:t>\n”</a:t>
            </a:r>
            <a:r>
              <a:rPr kumimoji="1" lang="zh-CN" altLang="en-US" dirty="0"/>
              <a:t>，文件</a:t>
            </a:r>
            <a:r>
              <a:rPr kumimoji="1" lang="en-US" altLang="zh-CN" dirty="0" err="1"/>
              <a:t>bar.txt</a:t>
            </a:r>
            <a:r>
              <a:rPr kumimoji="1" lang="zh-CN" altLang="en-US" dirty="0"/>
              <a:t>的内容是字符串“</a:t>
            </a:r>
            <a:r>
              <a:rPr kumimoji="1" lang="en-US" altLang="zh-CN" dirty="0" err="1"/>
              <a:t>barbarbar</a:t>
            </a:r>
            <a:r>
              <a:rPr kumimoji="1" lang="en-US" altLang="zh-CN" dirty="0"/>
              <a:t>\n”</a:t>
            </a:r>
            <a:endParaRPr kumimoji="1" lang="en-US" altLang="zh-CN" dirty="0"/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r>
              <a:rPr kumimoji="1" lang="zh-CN" altLang="en-US" dirty="0"/>
              <a:t>执行右侧程序，请写出所有可能的输出。</a:t>
            </a:r>
            <a:endParaRPr kumimoji="1" lang="en-US" altLang="zh-CN" dirty="0"/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</a:pPr>
            <a:endParaRPr kumimoji="1" lang="en-US" altLang="zh-CN" dirty="0"/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</a:pPr>
            <a:endParaRPr kumimoji="1" lang="en-US" altLang="zh-CN" dirty="0"/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</a:pPr>
            <a:endParaRPr kumimoji="1" lang="en-US" altLang="zh-CN" dirty="0"/>
          </a:p>
          <a:p>
            <a:pPr marL="800100" lvl="2" indent="-342900">
              <a:lnSpc>
                <a:spcPct val="100000"/>
              </a:lnSpc>
              <a:spcBef>
                <a:spcPts val="0"/>
              </a:spcBef>
            </a:pPr>
            <a:endParaRPr kumimoji="1" lang="en-US" altLang="zh-CN" dirty="0"/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endParaRPr kumimoji="1" lang="en-US" altLang="zh-CN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645424" y="255796"/>
            <a:ext cx="6559826" cy="58118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#include “</a:t>
            </a:r>
            <a:r>
              <a:rPr kumimoji="1" lang="en-US" altLang="zh-CN" sz="2200" dirty="0" err="1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csapp.h</a:t>
            </a: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”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 err="1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int</a:t>
            </a: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main() {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</a:t>
            </a:r>
            <a:r>
              <a:rPr kumimoji="1" lang="en-US" altLang="zh-CN" sz="2200" dirty="0" err="1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int</a:t>
            </a: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fd1, fd2;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char c;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fd1 = open(“</a:t>
            </a:r>
            <a:r>
              <a:rPr kumimoji="1" lang="en-US" altLang="zh-CN" sz="2200" dirty="0" err="1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foo.txt</a:t>
            </a: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”, O_RDONLY, 0);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fd2 = open(“</a:t>
            </a:r>
            <a:r>
              <a:rPr kumimoji="1" lang="en-US" altLang="zh-CN" sz="2200" dirty="0" err="1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bar.txt</a:t>
            </a: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”, O_RDONLY, 0);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close(fd2);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fd2 = open(”</a:t>
            </a:r>
            <a:r>
              <a:rPr kumimoji="1" lang="en-US" altLang="zh-CN" sz="2200" dirty="0" err="1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bar.txt</a:t>
            </a: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”, O_RDONLY, 0);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</a:t>
            </a:r>
            <a:r>
              <a:rPr kumimoji="1" lang="en-US" altLang="zh-CN" sz="2200" dirty="0" err="1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int</a:t>
            </a: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</a:t>
            </a:r>
            <a:r>
              <a:rPr kumimoji="1" lang="en-US" altLang="zh-CN" sz="2200" dirty="0" err="1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rc</a:t>
            </a: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= fork();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if (</a:t>
            </a:r>
            <a:r>
              <a:rPr kumimoji="1" lang="en-US" altLang="zh-CN" sz="2200" dirty="0" err="1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rc</a:t>
            </a: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== 0) {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	read(fd2, &amp;c, 1);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	</a:t>
            </a:r>
            <a:r>
              <a:rPr kumimoji="1" lang="en-US" altLang="zh-CN" sz="2200" dirty="0" err="1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printf</a:t>
            </a: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(“fd2=%d, child: c=%c\n”, fd2, c);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}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read(fd2, &amp;c, 1);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</a:t>
            </a:r>
            <a:r>
              <a:rPr kumimoji="1" lang="en-US" altLang="zh-CN" sz="2200" dirty="0" err="1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printf</a:t>
            </a: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(“fd2=%d, c=%c\n”, fd2, c);	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exit(0);</a:t>
            </a:r>
            <a:endParaRPr kumimoji="1" lang="en-US" altLang="zh-CN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}</a:t>
            </a:r>
            <a:endParaRPr kumimoji="1" lang="zh-CN" altLang="en-US" sz="2200" dirty="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981</Words>
  <Application>WPS Presentation</Application>
  <PresentationFormat>宽屏</PresentationFormat>
  <Paragraphs>50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SimSun</vt:lpstr>
      <vt:lpstr>Wingdings</vt:lpstr>
      <vt:lpstr>Arial</vt:lpstr>
      <vt:lpstr>SimSun</vt:lpstr>
      <vt:lpstr>Droid Sans Fallback</vt:lpstr>
      <vt:lpstr>Comic Sans MS</vt:lpstr>
      <vt:lpstr>Times New Roman</vt:lpstr>
      <vt:lpstr>DengXian Light</vt:lpstr>
      <vt:lpstr>Gubbi</vt:lpstr>
      <vt:lpstr>DengXian</vt:lpstr>
      <vt:lpstr>SimSun</vt:lpstr>
      <vt:lpstr>Microsoft YaHei</vt:lpstr>
      <vt:lpstr>Arial Unicode MS</vt:lpstr>
      <vt:lpstr>OpenSymbol</vt:lpstr>
      <vt:lpstr>Office 主题</vt:lpstr>
      <vt:lpstr>Homework8</vt:lpstr>
      <vt:lpstr>问题1</vt:lpstr>
      <vt:lpstr>问题2</vt:lpstr>
      <vt:lpstr>问题3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Homework6</dc:title>
  <dc:creator>Microsoft Office 用户</dc:creator>
  <cp:lastModifiedBy>hank</cp:lastModifiedBy>
  <cp:revision>81</cp:revision>
  <dcterms:created xsi:type="dcterms:W3CDTF">2025-05-08T09:50:28Z</dcterms:created>
  <dcterms:modified xsi:type="dcterms:W3CDTF">2025-05-08T09:50:28Z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1033-11.1.0.11720</vt:lpwstr>
  </property>
</Properties>
</file>