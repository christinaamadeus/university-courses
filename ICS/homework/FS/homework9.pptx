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62" r:id="rId4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15"/>
    <p:restoredTop sz="94627"/>
  </p:normalViewPr>
  <p:slideViewPr>
    <p:cSldViewPr snapToGrid="0" snapToObjects="1">
      <p:cViewPr varScale="1">
        <p:scale>
          <a:sx n="118" d="100"/>
          <a:sy n="118" d="100"/>
        </p:scale>
        <p:origin x="9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CAF3B-F535-594E-A350-F65B0920FEB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32C27-99DA-8A44-B1FE-52824BDDE77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Homework9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FS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SimSun" charset="-122"/>
              </a:rPr>
              <a:t>固定大小</a:t>
            </a:r>
            <a:r>
              <a:rPr lang="en-US" altLang="zh-CN" dirty="0">
                <a:ea typeface="SimSun" charset="-122"/>
              </a:rPr>
              <a:t>data</a:t>
            </a:r>
            <a:r>
              <a:rPr lang="zh-CN" altLang="en-US" dirty="0">
                <a:ea typeface="SimSun" charset="-122"/>
              </a:rPr>
              <a:t> </a:t>
            </a:r>
            <a:r>
              <a:rPr lang="en-US" altLang="zh-CN" dirty="0">
                <a:ea typeface="SimSun" charset="-122"/>
              </a:rPr>
              <a:t>block</a:t>
            </a:r>
            <a:r>
              <a:rPr lang="zh-CN" altLang="en-US" dirty="0">
                <a:ea typeface="SimSun" charset="-122"/>
              </a:rPr>
              <a:t>和</a:t>
            </a:r>
            <a:r>
              <a:rPr lang="en-US" altLang="zh-CN" dirty="0">
                <a:ea typeface="SimSun" charset="-122"/>
              </a:rPr>
              <a:t>extent</a:t>
            </a:r>
            <a:r>
              <a:rPr lang="zh-CN" altLang="en-US" dirty="0">
                <a:ea typeface="SimSun" charset="-122"/>
              </a:rPr>
              <a:t>两种方式的</a:t>
            </a:r>
            <a:r>
              <a:rPr lang="en-US" altLang="zh-CN" dirty="0" err="1">
                <a:ea typeface="SimSun" charset="-122"/>
              </a:rPr>
              <a:t>inode</a:t>
            </a:r>
            <a:r>
              <a:rPr lang="zh-CN" altLang="en-US" dirty="0">
                <a:ea typeface="SimSun" charset="-122"/>
              </a:rPr>
              <a:t>空间开销分析</a:t>
            </a:r>
            <a:endParaRPr lang="en-US" altLang="zh-CN" dirty="0">
              <a:ea typeface="SimSun" charset="-122"/>
            </a:endParaRPr>
          </a:p>
          <a:p>
            <a:pPr lvl="1"/>
            <a:r>
              <a:rPr lang="zh-CN" altLang="en-US" dirty="0">
                <a:ea typeface="SimSun" charset="-122"/>
              </a:rPr>
              <a:t>文件大小为</a:t>
            </a:r>
            <a:r>
              <a:rPr lang="en-US" altLang="zh-CN" dirty="0">
                <a:ea typeface="SimSun" charset="-122"/>
              </a:rPr>
              <a:t>5MB</a:t>
            </a:r>
            <a:r>
              <a:rPr lang="zh-CN" altLang="en-US" dirty="0">
                <a:ea typeface="SimSun" charset="-122"/>
              </a:rPr>
              <a:t>，均分为</a:t>
            </a:r>
            <a:r>
              <a:rPr lang="en-US" altLang="zh-CN" dirty="0">
                <a:ea typeface="SimSun" charset="-122"/>
              </a:rPr>
              <a:t>5</a:t>
            </a:r>
            <a:r>
              <a:rPr lang="zh-CN" altLang="en-US" dirty="0">
                <a:ea typeface="SimSun" charset="-122"/>
              </a:rPr>
              <a:t>等分，分别连续存放（每段</a:t>
            </a:r>
            <a:r>
              <a:rPr lang="en-US" altLang="zh-CN" dirty="0">
                <a:ea typeface="SimSun" charset="-122"/>
              </a:rPr>
              <a:t>1MB</a:t>
            </a:r>
            <a:r>
              <a:rPr lang="zh-CN" altLang="en-US" dirty="0">
                <a:ea typeface="SimSun" charset="-122"/>
              </a:rPr>
              <a:t>在磁盘上连续存放）</a:t>
            </a:r>
            <a:endParaRPr lang="en-US" altLang="zh-CN" dirty="0">
              <a:ea typeface="SimSun" charset="-122"/>
            </a:endParaRPr>
          </a:p>
          <a:p>
            <a:pPr lvl="1"/>
            <a:r>
              <a:rPr lang="zh-CN" altLang="en-US" dirty="0">
                <a:ea typeface="SimSun" charset="-122"/>
              </a:rPr>
              <a:t>固定大小</a:t>
            </a:r>
            <a:r>
              <a:rPr lang="en-US" altLang="zh-CN" dirty="0">
                <a:ea typeface="SimSun" charset="-122"/>
              </a:rPr>
              <a:t>data</a:t>
            </a:r>
            <a:r>
              <a:rPr lang="zh-CN" altLang="en-US" dirty="0">
                <a:ea typeface="SimSun" charset="-122"/>
              </a:rPr>
              <a:t> </a:t>
            </a:r>
            <a:r>
              <a:rPr lang="en-US" altLang="zh-CN" dirty="0">
                <a:ea typeface="SimSun" charset="-122"/>
              </a:rPr>
              <a:t>block</a:t>
            </a:r>
            <a:r>
              <a:rPr lang="zh-CN" altLang="en-US" dirty="0">
                <a:ea typeface="SimSun" charset="-122"/>
              </a:rPr>
              <a:t>方案中，每个</a:t>
            </a:r>
            <a:r>
              <a:rPr lang="en-US" altLang="zh-CN" dirty="0">
                <a:ea typeface="SimSun" charset="-122"/>
              </a:rPr>
              <a:t>data block 4KB</a:t>
            </a:r>
            <a:r>
              <a:rPr lang="zh-CN" altLang="en-US" dirty="0">
                <a:ea typeface="SimSun" charset="-122"/>
              </a:rPr>
              <a:t>，</a:t>
            </a:r>
            <a:r>
              <a:rPr lang="en-US" altLang="zh-CN" dirty="0">
                <a:ea typeface="SimSun" charset="-122"/>
              </a:rPr>
              <a:t> </a:t>
            </a:r>
            <a:r>
              <a:rPr lang="en-US" altLang="zh-CN" dirty="0" err="1">
                <a:ea typeface="SimSun" charset="-122"/>
              </a:rPr>
              <a:t>inode</a:t>
            </a:r>
            <a:r>
              <a:rPr lang="zh-CN" altLang="en-US" dirty="0">
                <a:ea typeface="SimSun" charset="-122"/>
              </a:rPr>
              <a:t>结构中包括</a:t>
            </a:r>
            <a:r>
              <a:rPr lang="en-US" altLang="zh-CN" dirty="0">
                <a:ea typeface="SimSun" charset="-122"/>
              </a:rPr>
              <a:t>12</a:t>
            </a:r>
            <a:r>
              <a:rPr lang="zh-CN" altLang="en-US" dirty="0">
                <a:ea typeface="SimSun" charset="-122"/>
              </a:rPr>
              <a:t>个</a:t>
            </a:r>
            <a:r>
              <a:rPr lang="en-US" altLang="zh-CN" dirty="0">
                <a:ea typeface="SimSun" charset="-122"/>
              </a:rPr>
              <a:t>direct</a:t>
            </a:r>
            <a:r>
              <a:rPr lang="zh-CN" altLang="en-US" dirty="0">
                <a:ea typeface="SimSun" charset="-122"/>
              </a:rPr>
              <a:t> </a:t>
            </a:r>
            <a:r>
              <a:rPr lang="en-US" altLang="zh-CN" dirty="0">
                <a:ea typeface="SimSun" charset="-122"/>
              </a:rPr>
              <a:t>pointers</a:t>
            </a:r>
            <a:r>
              <a:rPr lang="zh-CN" altLang="en-US" dirty="0">
                <a:ea typeface="SimSun" charset="-122"/>
              </a:rPr>
              <a:t>，</a:t>
            </a:r>
            <a:r>
              <a:rPr lang="en-US" altLang="zh-CN" dirty="0">
                <a:ea typeface="SimSun" charset="-122"/>
              </a:rPr>
              <a:t>2</a:t>
            </a:r>
            <a:r>
              <a:rPr lang="zh-CN" altLang="en-US" dirty="0">
                <a:ea typeface="SimSun" charset="-122"/>
              </a:rPr>
              <a:t>个</a:t>
            </a:r>
            <a:r>
              <a:rPr lang="en-US" altLang="zh-CN" dirty="0">
                <a:ea typeface="SimSun" charset="-122"/>
              </a:rPr>
              <a:t>indirect</a:t>
            </a:r>
            <a:r>
              <a:rPr lang="zh-CN" altLang="en-US" dirty="0">
                <a:ea typeface="SimSun" charset="-122"/>
              </a:rPr>
              <a:t> </a:t>
            </a:r>
            <a:r>
              <a:rPr lang="en-US" altLang="zh-CN" dirty="0">
                <a:ea typeface="SimSun" charset="-122"/>
              </a:rPr>
              <a:t>point</a:t>
            </a:r>
            <a:r>
              <a:rPr lang="zh-CN" altLang="en-US" dirty="0">
                <a:ea typeface="SimSun" charset="-122"/>
              </a:rPr>
              <a:t>，</a:t>
            </a:r>
            <a:r>
              <a:rPr lang="en-US" altLang="zh-CN" dirty="0">
                <a:ea typeface="SimSun" charset="-122"/>
              </a:rPr>
              <a:t>1</a:t>
            </a:r>
            <a:r>
              <a:rPr lang="zh-CN" altLang="en-US" dirty="0">
                <a:ea typeface="SimSun" charset="-122"/>
              </a:rPr>
              <a:t>个</a:t>
            </a:r>
            <a:r>
              <a:rPr lang="en-US" altLang="zh-CN" dirty="0">
                <a:ea typeface="SimSun" charset="-122"/>
              </a:rPr>
              <a:t>double</a:t>
            </a:r>
            <a:r>
              <a:rPr lang="zh-CN" altLang="en-US" dirty="0">
                <a:ea typeface="SimSun" charset="-122"/>
              </a:rPr>
              <a:t> </a:t>
            </a:r>
            <a:r>
              <a:rPr lang="en-US" altLang="zh-CN" dirty="0">
                <a:ea typeface="SimSun" charset="-122"/>
              </a:rPr>
              <a:t>indirect</a:t>
            </a:r>
            <a:r>
              <a:rPr lang="zh-CN" altLang="en-US" dirty="0">
                <a:ea typeface="SimSun" charset="-122"/>
              </a:rPr>
              <a:t> </a:t>
            </a:r>
            <a:r>
              <a:rPr lang="en-US" altLang="zh-CN" dirty="0">
                <a:ea typeface="SimSun" charset="-122"/>
              </a:rPr>
              <a:t>pointer</a:t>
            </a:r>
            <a:endParaRPr lang="en-US" altLang="zh-CN" dirty="0">
              <a:ea typeface="SimSun" charset="-122"/>
            </a:endParaRPr>
          </a:p>
          <a:p>
            <a:pPr lvl="1"/>
            <a:r>
              <a:rPr lang="en-US" altLang="zh-CN" dirty="0" err="1">
                <a:ea typeface="SimSun" charset="-122"/>
              </a:rPr>
              <a:t>inode</a:t>
            </a:r>
            <a:r>
              <a:rPr lang="zh-CN" altLang="en-US" dirty="0">
                <a:ea typeface="SimSun" charset="-122"/>
              </a:rPr>
              <a:t>中每个指针为</a:t>
            </a:r>
            <a:r>
              <a:rPr lang="en-US" altLang="zh-CN" dirty="0">
                <a:ea typeface="SimSun" charset="-122"/>
              </a:rPr>
              <a:t>8 bytes</a:t>
            </a:r>
            <a:r>
              <a:rPr lang="zh-CN" altLang="en-US" dirty="0">
                <a:ea typeface="SimSun" charset="-122"/>
              </a:rPr>
              <a:t>，每个</a:t>
            </a:r>
            <a:r>
              <a:rPr lang="en-US" altLang="zh-CN" dirty="0">
                <a:ea typeface="SimSun" charset="-122"/>
              </a:rPr>
              <a:t>extent size</a:t>
            </a:r>
            <a:r>
              <a:rPr lang="zh-CN" altLang="en-US" dirty="0">
                <a:ea typeface="SimSun" charset="-122"/>
              </a:rPr>
              <a:t>域为</a:t>
            </a:r>
            <a:r>
              <a:rPr lang="en-US" altLang="zh-CN" dirty="0">
                <a:ea typeface="SimSun" charset="-122"/>
              </a:rPr>
              <a:t>4 bytes</a:t>
            </a:r>
            <a:endParaRPr lang="en-US" altLang="zh-CN" dirty="0">
              <a:ea typeface="SimSun" charset="-122"/>
            </a:endParaRPr>
          </a:p>
          <a:p>
            <a:pPr lvl="1"/>
            <a:r>
              <a:rPr lang="zh-CN" altLang="en-US" dirty="0">
                <a:ea typeface="SimSun" charset="-122"/>
              </a:rPr>
              <a:t>用固定大小</a:t>
            </a:r>
            <a:r>
              <a:rPr lang="en-US" altLang="zh-CN" dirty="0">
                <a:ea typeface="SimSun" charset="-122"/>
              </a:rPr>
              <a:t>data block</a:t>
            </a:r>
            <a:r>
              <a:rPr lang="zh-CN" altLang="en-US" dirty="0">
                <a:ea typeface="SimSun" charset="-122"/>
              </a:rPr>
              <a:t>和</a:t>
            </a:r>
            <a:r>
              <a:rPr lang="en-US" altLang="zh-CN" dirty="0">
                <a:ea typeface="SimSun" charset="-122"/>
              </a:rPr>
              <a:t>extent</a:t>
            </a:r>
            <a:r>
              <a:rPr lang="zh-CN" altLang="en-US" dirty="0">
                <a:ea typeface="SimSun" charset="-122"/>
              </a:rPr>
              <a:t>两种方式，分别计算两种方式文件数据位置的元数据分别占多大存储空间？</a:t>
            </a:r>
            <a:endParaRPr lang="en-US" altLang="zh-CN" dirty="0">
              <a:ea typeface="SimSun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ea typeface="SimSun" charset="-122"/>
              </a:rPr>
              <a:t>假设采用类似</a:t>
            </a:r>
            <a:r>
              <a:rPr lang="en-US" altLang="zh-CN" sz="2400" dirty="0">
                <a:ea typeface="SimSun" charset="-122"/>
              </a:rPr>
              <a:t>Very Simple File System</a:t>
            </a:r>
            <a:r>
              <a:rPr lang="zh-CN" altLang="en-US" sz="2400" dirty="0">
                <a:ea typeface="SimSun" charset="-122"/>
              </a:rPr>
              <a:t>的方式进行文件系统的数据分布，包括</a:t>
            </a:r>
            <a:r>
              <a:rPr lang="en-US" altLang="zh-CN" sz="2400" dirty="0">
                <a:ea typeface="SimSun" charset="-122"/>
              </a:rPr>
              <a:t>superblock,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 err="1">
                <a:ea typeface="SimSun" charset="-122"/>
              </a:rPr>
              <a:t>inode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bitmap,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data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bitmap,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 err="1">
                <a:ea typeface="SimSun" charset="-122"/>
              </a:rPr>
              <a:t>inodes</a:t>
            </a:r>
            <a:r>
              <a:rPr lang="zh-CN" altLang="en-US" sz="2400" dirty="0">
                <a:ea typeface="SimSun" charset="-122"/>
              </a:rPr>
              <a:t>（包含</a:t>
            </a:r>
            <a:r>
              <a:rPr lang="en-US" altLang="zh-CN" sz="2400" dirty="0">
                <a:ea typeface="SimSun" charset="-122"/>
              </a:rPr>
              <a:t>12</a:t>
            </a:r>
            <a:r>
              <a:rPr lang="zh-CN" altLang="en-US" sz="2400" dirty="0">
                <a:ea typeface="SimSun" charset="-122"/>
              </a:rPr>
              <a:t>个</a:t>
            </a:r>
            <a:r>
              <a:rPr lang="en-US" altLang="zh-CN" sz="2400" dirty="0">
                <a:ea typeface="SimSun" charset="-122"/>
              </a:rPr>
              <a:t>direct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pointers</a:t>
            </a:r>
            <a:r>
              <a:rPr lang="zh-CN" altLang="en-US" sz="2400" dirty="0">
                <a:ea typeface="SimSun" charset="-122"/>
              </a:rPr>
              <a:t>，</a:t>
            </a:r>
            <a:r>
              <a:rPr lang="en-US" altLang="zh-CN" sz="2400" dirty="0">
                <a:ea typeface="SimSun" charset="-122"/>
              </a:rPr>
              <a:t>2</a:t>
            </a:r>
            <a:r>
              <a:rPr lang="zh-CN" altLang="en-US" sz="2400" dirty="0">
                <a:ea typeface="SimSun" charset="-122"/>
              </a:rPr>
              <a:t>个</a:t>
            </a:r>
            <a:r>
              <a:rPr lang="en-US" altLang="zh-CN" sz="2400" dirty="0">
                <a:ea typeface="SimSun" charset="-122"/>
              </a:rPr>
              <a:t>indirect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point</a:t>
            </a:r>
            <a:r>
              <a:rPr lang="zh-CN" altLang="en-US" sz="2400" dirty="0">
                <a:ea typeface="SimSun" charset="-122"/>
              </a:rPr>
              <a:t>，</a:t>
            </a:r>
            <a:r>
              <a:rPr lang="en-US" altLang="zh-CN" sz="2400" dirty="0">
                <a:ea typeface="SimSun" charset="-122"/>
              </a:rPr>
              <a:t>1</a:t>
            </a:r>
            <a:r>
              <a:rPr lang="zh-CN" altLang="en-US" sz="2400" dirty="0">
                <a:ea typeface="SimSun" charset="-122"/>
              </a:rPr>
              <a:t>个</a:t>
            </a:r>
            <a:r>
              <a:rPr lang="en-US" altLang="zh-CN" sz="2400" dirty="0">
                <a:ea typeface="SimSun" charset="-122"/>
              </a:rPr>
              <a:t>double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indirect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pointer</a:t>
            </a:r>
            <a:r>
              <a:rPr lang="zh-CN" altLang="en-US" sz="2400" dirty="0">
                <a:ea typeface="SimSun" charset="-122"/>
              </a:rPr>
              <a:t>，所有指针均为</a:t>
            </a:r>
            <a:r>
              <a:rPr lang="en-US" altLang="zh-CN" sz="2400" dirty="0">
                <a:ea typeface="SimSun" charset="-122"/>
              </a:rPr>
              <a:t>4B</a:t>
            </a:r>
            <a:r>
              <a:rPr lang="zh-CN" altLang="en-US" sz="2400" dirty="0">
                <a:ea typeface="SimSun" charset="-122"/>
              </a:rPr>
              <a:t>）和</a:t>
            </a:r>
            <a:r>
              <a:rPr lang="en-US" altLang="zh-CN" sz="2400" dirty="0">
                <a:ea typeface="SimSun" charset="-122"/>
              </a:rPr>
              <a:t>data</a:t>
            </a:r>
            <a:r>
              <a:rPr lang="zh-CN" altLang="en-US" sz="2400" dirty="0">
                <a:ea typeface="SimSun" charset="-122"/>
              </a:rPr>
              <a:t> </a:t>
            </a:r>
            <a:r>
              <a:rPr lang="en-US" altLang="zh-CN" sz="2400" dirty="0">
                <a:ea typeface="SimSun" charset="-122"/>
              </a:rPr>
              <a:t>block</a:t>
            </a:r>
            <a:r>
              <a:rPr lang="zh-CN" altLang="en-US" sz="2400" dirty="0">
                <a:ea typeface="SimSun" charset="-122"/>
              </a:rPr>
              <a:t>，每个文件或目录每次至少分配一个</a:t>
            </a:r>
            <a:r>
              <a:rPr lang="en-US" altLang="zh-CN" sz="2400" dirty="0">
                <a:ea typeface="SimSun" charset="-122"/>
              </a:rPr>
              <a:t>block</a:t>
            </a:r>
            <a:r>
              <a:rPr lang="zh-CN" altLang="en-US" sz="2400" dirty="0">
                <a:ea typeface="SimSun" charset="-122"/>
              </a:rPr>
              <a:t>。</a:t>
            </a:r>
            <a:endParaRPr lang="en-US" altLang="zh-CN" sz="2400" dirty="0">
              <a:ea typeface="SimSun" charset="-122"/>
            </a:endParaRPr>
          </a:p>
          <a:p>
            <a:r>
              <a:rPr lang="zh-CN" altLang="en-US" sz="2400" dirty="0">
                <a:ea typeface="SimSun" charset="-122"/>
              </a:rPr>
              <a:t>假设每个操作是独立进行的，初试状态缓存中没有任何数据，访问一次即缓存；假设对文件的访问或修改需要在该文件、该文件所在文件夹更新访问或修改时间（再上层目录不受影响），所有修改会立刻落盘。请计算下列操作需要进行多少次</a:t>
            </a:r>
            <a:r>
              <a:rPr lang="en-US" altLang="zh-CN" sz="2400" dirty="0">
                <a:ea typeface="SimSun" charset="-122"/>
              </a:rPr>
              <a:t>I/O</a:t>
            </a:r>
            <a:r>
              <a:rPr lang="zh-CN" altLang="en-US" sz="2400" dirty="0">
                <a:ea typeface="SimSun" charset="-122"/>
              </a:rPr>
              <a:t>？（包括读、写）</a:t>
            </a:r>
            <a:endParaRPr lang="en-US" altLang="zh-CN" sz="2400" dirty="0">
              <a:ea typeface="SimSun" charset="-122"/>
            </a:endParaRPr>
          </a:p>
          <a:p>
            <a:pPr lvl="1"/>
            <a:r>
              <a:rPr lang="zh-CN" altLang="en-US" dirty="0">
                <a:ea typeface="SimSun" charset="-122"/>
              </a:rPr>
              <a:t>文件系统中已有</a:t>
            </a:r>
            <a:r>
              <a:rPr lang="en-US" altLang="zh-CN" dirty="0">
                <a:ea typeface="SimSun" charset="-122"/>
              </a:rPr>
              <a:t>/foo/bar</a:t>
            </a:r>
            <a:r>
              <a:rPr lang="zh-CN" altLang="en-US" dirty="0">
                <a:ea typeface="SimSun" charset="-122"/>
              </a:rPr>
              <a:t>文件，大小为</a:t>
            </a:r>
            <a:r>
              <a:rPr lang="en-US" altLang="zh-CN" dirty="0">
                <a:ea typeface="SimSun" charset="-122"/>
              </a:rPr>
              <a:t>100KB</a:t>
            </a:r>
            <a:r>
              <a:rPr lang="zh-CN" altLang="en-US" dirty="0">
                <a:ea typeface="SimSun" charset="-122"/>
              </a:rPr>
              <a:t>，</a:t>
            </a:r>
            <a:r>
              <a:rPr lang="en-US" altLang="zh-CN" dirty="0">
                <a:ea typeface="SimSun" charset="-122"/>
              </a:rPr>
              <a:t>page</a:t>
            </a:r>
            <a:r>
              <a:rPr lang="zh-CN" altLang="en-US" dirty="0">
                <a:ea typeface="SimSun" charset="-122"/>
              </a:rPr>
              <a:t>大小</a:t>
            </a:r>
            <a:r>
              <a:rPr lang="en-US" altLang="zh-CN" dirty="0">
                <a:ea typeface="SimSun" charset="-122"/>
              </a:rPr>
              <a:t>4KB</a:t>
            </a:r>
            <a:r>
              <a:rPr lang="zh-CN" altLang="en-US">
                <a:ea typeface="SimSun" charset="-122"/>
              </a:rPr>
              <a:t>，在</a:t>
            </a:r>
            <a:r>
              <a:rPr lang="zh-CN" altLang="en-US" dirty="0">
                <a:ea typeface="SimSun" charset="-122"/>
              </a:rPr>
              <a:t>文件后面追加写入</a:t>
            </a:r>
            <a:r>
              <a:rPr lang="en-US" altLang="zh-CN" dirty="0">
                <a:ea typeface="SimSun" charset="-122"/>
              </a:rPr>
              <a:t>1MB</a:t>
            </a:r>
            <a:r>
              <a:rPr lang="zh-CN" altLang="en-US" dirty="0">
                <a:ea typeface="SimSun" charset="-122"/>
              </a:rPr>
              <a:t>数据</a:t>
            </a:r>
            <a:endParaRPr lang="en-US" altLang="zh-CN" dirty="0">
              <a:ea typeface="SimSun" charset="-122"/>
            </a:endParaRPr>
          </a:p>
          <a:p>
            <a:pPr lvl="1"/>
            <a:r>
              <a:rPr lang="zh-CN" altLang="en-US" dirty="0">
                <a:ea typeface="SimSun" charset="-122"/>
              </a:rPr>
              <a:t>文件系统中已有</a:t>
            </a:r>
            <a:r>
              <a:rPr lang="en-US" altLang="zh-CN" dirty="0">
                <a:ea typeface="SimSun" charset="-122"/>
              </a:rPr>
              <a:t>/foo/bar</a:t>
            </a:r>
            <a:r>
              <a:rPr lang="zh-CN" altLang="en-US" dirty="0">
                <a:ea typeface="SimSun" charset="-122"/>
              </a:rPr>
              <a:t>文件，执行：</a:t>
            </a:r>
            <a:r>
              <a:rPr lang="en-US" altLang="zh-CN" dirty="0">
                <a:ea typeface="SimSun" charset="-122"/>
              </a:rPr>
              <a:t>mv /foo/bar /foo/bar2</a:t>
            </a:r>
            <a:endParaRPr lang="zh-CN" altLang="en-US" dirty="0">
              <a:ea typeface="SimSun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WPS Presentation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SimSun</vt:lpstr>
      <vt:lpstr>Wingdings</vt:lpstr>
      <vt:lpstr>Arial</vt:lpstr>
      <vt:lpstr>SimSun</vt:lpstr>
      <vt:lpstr>Droid Sans Fallback</vt:lpstr>
      <vt:lpstr>Comic Sans MS</vt:lpstr>
      <vt:lpstr>Times New Roman</vt:lpstr>
      <vt:lpstr>DengXian Light</vt:lpstr>
      <vt:lpstr>Gubbi</vt:lpstr>
      <vt:lpstr>DengXian</vt:lpstr>
      <vt:lpstr>SimSun</vt:lpstr>
      <vt:lpstr>Microsoft YaHei</vt:lpstr>
      <vt:lpstr>Arial Unicode MS</vt:lpstr>
      <vt:lpstr>Office 主题</vt:lpstr>
      <vt:lpstr>Homework8</vt:lpstr>
      <vt:lpstr>问题4</vt:lpstr>
      <vt:lpstr>问题5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Homework6</dc:title>
  <dc:creator>Microsoft Office 用户</dc:creator>
  <cp:lastModifiedBy>hank</cp:lastModifiedBy>
  <cp:revision>80</cp:revision>
  <dcterms:created xsi:type="dcterms:W3CDTF">2025-05-08T09:51:17Z</dcterms:created>
  <dcterms:modified xsi:type="dcterms:W3CDTF">2025-05-08T09:51:17Z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1033-11.1.0.11720</vt:lpwstr>
  </property>
</Properties>
</file>